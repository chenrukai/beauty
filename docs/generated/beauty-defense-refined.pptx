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
  <Relationship Id="rId10" Type="http://schemas.openxmlformats.org/officeDocument/2006/relationships/presProps" Target="presProps.xml"/>
  <Relationship Id="rId11" Type="http://schemas.openxmlformats.org/officeDocument/2006/relationships/viewProps" Target="viewProps.xml"/>
  <Relationship Id="rId1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efined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AI美业知识台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基于CMS架构的“美业多媒体知识库”构建与展示系统实现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项目定位：面向美业门店培训、知识沉淀与智能问答的垂直知识平台</a:t>
            </a:r>
          </a:p>
          <a:p>
            <a:pPr lvl="0" marL="342900" indent="-171450">
              <a:buChar char="•"/>
            </a:pPr>
            <a:r>
              <a:rPr lang="zh-CN" sz="1900" dirty="0"/>
              <a:t>答辩重点：为什么做、怎么做、做成了什么、还有哪些提升空间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答辩建议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封面页口播控制在 15 秒内，先报题目，再说明系统定位与汇报结构。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研究背景与目标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从行业痛点出发，构建可管理、可检索、可追溯的知识系统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美业知识分散在产品手册、培训文档、护理SOP与经验口述中，难以形成统一资产</a:t>
            </a:r>
          </a:p>
          <a:p>
            <a:pPr lvl="0" marL="342900" indent="-171450">
              <a:buChar char="•"/>
            </a:pPr>
            <a:r>
              <a:rPr lang="zh-CN" sz="1900" dirty="0"/>
              <a:t>传统CMS偏重内容录入与展示，缺少语义检索与专业问答能力</a:t>
            </a:r>
          </a:p>
          <a:p>
            <a:pPr lvl="0" marL="342900" indent="-171450">
              <a:buChar char="•"/>
            </a:pPr>
            <a:r>
              <a:rPr lang="zh-CN" sz="1900" dirty="0"/>
              <a:t>大模型具备生成能力，但需要私有知识库约束，避免知识滞后与幻觉</a:t>
            </a:r>
          </a:p>
          <a:p>
            <a:pPr lvl="0" marL="342900" indent="-171450">
              <a:buChar char="•"/>
            </a:pPr>
            <a:r>
              <a:rPr lang="zh-CN" sz="1900" dirty="0"/>
              <a:t>本课题目标是打通“知识管理 + 异步处理 + RAG问答 + 来源展示”的完整闭环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一句话概括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这不是单纯的聊天系统，而是一个围绕美业知识资产构建的专业辅助平台。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系统角色与业务场景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围绕管理员维护知识、普通用户使用知识两条主线展开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管理员端：公告管理、知识列表、分类树、文件上传、任务监控、实体确认、用户管理</a:t>
            </a:r>
          </a:p>
          <a:p>
            <a:pPr lvl="0" marL="342900" indent="-171450">
              <a:buChar char="•"/>
            </a:pPr>
            <a:r>
              <a:rPr lang="zh-CN" sz="1900" dirty="0"/>
              <a:t>普通用户端：首页推荐、知识详情、我的收藏、智能问答、来源查看</a:t>
            </a:r>
          </a:p>
          <a:p>
            <a:pPr lvl="0" marL="342900" indent="-171450">
              <a:buChar char="•"/>
            </a:pPr>
            <a:r>
              <a:rPr lang="zh-CN" sz="1900" dirty="0"/>
              <a:t>典型场景一：门店培训人员上传护理资料，系统自动处理并纳入知识库</a:t>
            </a:r>
          </a:p>
          <a:p>
            <a:pPr lvl="0" marL="342900" indent="-171450">
              <a:buChar char="•"/>
            </a:pPr>
            <a:r>
              <a:rPr lang="zh-CN" sz="1900" dirty="0"/>
              <a:t>典型场景二：门店员工查询成分、护理问题或产品信息，快速获得有来源的回答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业务价值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实现从“知识录入”到“知识消费”的完整使用路径，更贴近真实应用而非单点演示。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总体架构与技术选型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前后端分离 + 模块化单体 + 本地大模型 / RAG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前端：Vue 3 + Vite + Element Plus，负责管理员与普通用户两套界面</a:t>
            </a:r>
          </a:p>
          <a:p>
            <a:pPr lvl="0" marL="342900" indent="-171450">
              <a:buChar char="•"/>
            </a:pPr>
            <a:r>
              <a:rPr lang="zh-CN" sz="1900" dirty="0"/>
              <a:t>后端：Spring Boot 3 + Spring Security + JWT + MyBatis-Plus，负责核心业务逻辑与权限控制</a:t>
            </a:r>
          </a:p>
          <a:p>
            <a:pPr lvl="0" marL="342900" indent="-171450">
              <a:buChar char="•"/>
            </a:pPr>
            <a:r>
              <a:rPr lang="zh-CN" sz="1900" dirty="0"/>
              <a:t>中间件：MySQL、Redis、RabbitMQ、MinIO、Milvus，分别承担结构化存储、缓存、异步队列、文件存储与向量检索</a:t>
            </a:r>
          </a:p>
          <a:p>
            <a:pPr lvl="0" marL="342900" indent="-171450">
              <a:buChar char="•"/>
            </a:pPr>
            <a:r>
              <a:rPr lang="zh-CN" sz="1900" dirty="0"/>
              <a:t>AI能力：本地 Ollama 模型接入，配合混合检索实现 RAG 智能问答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架构特点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兼顾工程可实现性与系统完整度，既能演示，又具备一定扩展基础。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核心业务流程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知识入库链路与问答链路共同构成系统核心闭环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知识入库：文件上传 -&gt; MinIO存储 -&gt; RabbitMQ入队 -&gt; 文本提取/分块 -&gt; 向量化 -&gt; 状态回写</a:t>
            </a:r>
          </a:p>
          <a:p>
            <a:pPr lvl="0" marL="342900" indent="-171450">
              <a:buChar char="•"/>
            </a:pPr>
            <a:r>
              <a:rPr lang="zh-CN" sz="1900" dirty="0"/>
              <a:t>任务处理：管理员可在任务监控中查看处理状态，对失败任务进行重试</a:t>
            </a:r>
          </a:p>
          <a:p>
            <a:pPr lvl="0" marL="342900" indent="-171450">
              <a:buChar char="•"/>
            </a:pPr>
            <a:r>
              <a:rPr lang="zh-CN" sz="1900" dirty="0"/>
              <a:t>智能问答：用户提问 -&gt; 混合检索（BM25 + 向量）-&gt; 上下文组装 -&gt; 大模型生成回答</a:t>
            </a:r>
          </a:p>
          <a:p>
            <a:pPr lvl="0" marL="342900" indent="-171450">
              <a:buChar char="•"/>
            </a:pPr>
            <a:r>
              <a:rPr lang="zh-CN" sz="1900" dirty="0"/>
              <a:t>结果展示：问答内容与来源同时返回，提升回答的专业性与可解释性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核心亮点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系统不是“只会答”，而是“能基于知识库回答，并给出依据”。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系统实现效果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管理员端与普通用户端均已形成可演示页面与主流程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管理员端已实现知识新增、状态管理、文件上传、任务监控、公告管理、实体确认与用户管理</a:t>
            </a:r>
          </a:p>
          <a:p>
            <a:pPr lvl="0" marL="342900" indent="-171450">
              <a:buChar char="•"/>
            </a:pPr>
            <a:r>
              <a:rPr lang="zh-CN" sz="1900" dirty="0"/>
              <a:t>普通用户端已实现首页推荐、知识详情、收藏分页、问答助手与来源跳转</a:t>
            </a:r>
          </a:p>
          <a:p>
            <a:pPr lvl="0" marL="342900" indent="-171450">
              <a:buChar char="•"/>
            </a:pPr>
            <a:r>
              <a:rPr lang="zh-CN" sz="1900" dirty="0"/>
              <a:t>登录后支持按角色分流：管理员进入后台，普通用户进入首页</a:t>
            </a:r>
          </a:p>
          <a:p>
            <a:pPr lvl="0" marL="342900" indent="-171450">
              <a:buChar char="•"/>
            </a:pPr>
            <a:r>
              <a:rPr lang="zh-CN" sz="1900" dirty="0"/>
              <a:t>当前版本已能够支撑中期检查与毕业答辩中的系统操作演示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建议展示顺序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登录 -&gt; 管理员新增知识/上传文件 -&gt; 查看任务 -&gt; 切换普通用户 -&gt; 浏览推荐 -&gt; 发起提问。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项目特色与阶段成果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围绕垂直知识管理、异步处理和问答可信性做了重点建设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特色一：将 CMS 内容管理与 RAG 问答结合，聚焦美业垂直场景而非通用问答</a:t>
            </a:r>
          </a:p>
          <a:p>
            <a:pPr lvl="0" marL="342900" indent="-171450">
              <a:buChar char="•"/>
            </a:pPr>
            <a:r>
              <a:rPr lang="zh-CN" sz="1900" dirty="0"/>
              <a:t>特色二：采用异步任务链路，支持状态跟踪、失败重试和处理结果回写</a:t>
            </a:r>
          </a:p>
          <a:p>
            <a:pPr lvl="0" marL="342900" indent="-171450">
              <a:buChar char="•"/>
            </a:pPr>
            <a:r>
              <a:rPr lang="zh-CN" sz="1900" dirty="0"/>
              <a:t>特色三：围绕“成分—功效—产品”建立基础结构化关系，为后续知识图谱扩展做准备</a:t>
            </a:r>
          </a:p>
          <a:p>
            <a:pPr lvl="0" marL="342900" indent="-171450">
              <a:buChar char="•"/>
            </a:pPr>
            <a:r>
              <a:rPr lang="zh-CN" sz="1900" dirty="0"/>
              <a:t>阶段成果：系统主流程已打通，前后端页面已完成主要联调，并补充了中文业务数据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当前完成度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已从“方案设计”进入“系统完善与答辩收尾”阶段，核心闭环已经形成。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Bar"/>
          <p:cNvSpPr/>
          <p:nvPr/>
        </p:nvSpPr>
        <p:spPr>
          <a:xfrm>
            <a:off x="0" y="6202680"/>
            <a:ext cx="12192000" cy="655320"/>
          </a:xfrm>
          <a:prstGeom prst="rect">
            <a:avLst/>
          </a:prstGeom>
          <a:solidFill>
            <a:srgbClr val="143D3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inCard"/>
          <p:cNvSpPr/>
          <p:nvPr/>
        </p:nvSpPr>
        <p:spPr>
          <a:xfrm>
            <a:off x="457200" y="1066800"/>
            <a:ext cx="76200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E3"/>
            </a:solidFill>
          </a:ln>
        </p:spPr>
        <p:txBody>
          <a:bodyPr/>
          <a:lstStyle/>
          <a:p/>
        </p:txBody>
      </p:sp>
      <p:sp>
        <p:nvSpPr>
          <p:cNvPr id="6" name="SideCard"/>
          <p:cNvSpPr/>
          <p:nvPr/>
        </p:nvSpPr>
        <p:spPr>
          <a:xfrm>
            <a:off x="8382000" y="1066800"/>
            <a:ext cx="2895600" cy="3924300"/>
          </a:xfrm>
          <a:prstGeom prst="rect">
            <a:avLst/>
          </a:prstGeom>
          <a:solidFill>
            <a:srgbClr val="F0F8F6"/>
          </a:solidFill>
          <a:ln w="9525">
            <a:solidFill>
              <a:srgbClr val="B7D8D2"/>
            </a:solidFill>
          </a:ln>
        </p:spPr>
        <p:txBody>
          <a:bodyPr/>
          <a:lstStyle/>
          <a:p/>
        </p:txBody>
      </p:sp>
      <p:sp>
        <p:nvSpPr>
          <p:cNvPr id="7" name="Title"/>
          <p:cNvSpPr/>
          <p:nvPr/>
        </p:nvSpPr>
        <p:spPr>
          <a:xfrm>
            <a:off x="640080" y="182880"/>
            <a:ext cx="7315200" cy="41148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2800" dirty="0"/>
              <a:t>不足、优化方向与总结</a:t>
            </a:r>
          </a:p>
        </p:txBody>
      </p:sp>
      <p:sp>
        <p:nvSpPr>
          <p:cNvPr id="8" name="Subtitle"/>
          <p:cNvSpPr/>
          <p:nvPr/>
        </p:nvSpPr>
        <p:spPr>
          <a:xfrm>
            <a:off x="640080" y="655320"/>
            <a:ext cx="7620000" cy="27432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700" dirty="0"/>
              <a:t>诚实说明边界，同时体现项目后续可扩展性</a:t>
            </a:r>
          </a:p>
        </p:txBody>
      </p:sp>
      <p:sp>
        <p:nvSpPr>
          <p:cNvPr id="9" name="Bullets"/>
          <p:cNvSpPr/>
          <p:nvPr/>
        </p:nvSpPr>
        <p:spPr>
          <a:xfrm>
            <a:off x="640080" y="1244600"/>
            <a:ext cx="7200000" cy="3500000"/>
          </a:xfrm>
        </p:spPr>
        <p:txBody>
          <a:bodyPr wrap="square" lIns="91440" tIns="45720" rIns="91440" bIns="45720"/>
          <a:lstStyle/>
          <a:p>
            <a:pPr lvl="0" marL="342900" indent="-171450">
              <a:buChar char="•"/>
            </a:pPr>
            <a:r>
              <a:rPr lang="zh-CN" sz="1900" dirty="0"/>
              <a:t>当前不足：统计报表仍可继续丰富，知识图谱可视化和更系统的测试评估尚未完全完成</a:t>
            </a:r>
          </a:p>
          <a:p>
            <a:pPr lvl="0" marL="342900" indent="-171450">
              <a:buChar char="•"/>
            </a:pPr>
            <a:r>
              <a:rPr lang="zh-CN" sz="1900" dirty="0"/>
              <a:t>交互层面：管理端和用户端视觉表现还有继续打磨空间</a:t>
            </a:r>
          </a:p>
          <a:p>
            <a:pPr lvl="0" marL="342900" indent="-171450">
              <a:buChar char="•"/>
            </a:pPr>
            <a:r>
              <a:rPr lang="zh-CN" sz="1900" dirty="0"/>
              <a:t>后续方向：完善测试与性能分析、补充论文正文、整理最终答辩材料与部署说明</a:t>
            </a:r>
          </a:p>
          <a:p>
            <a:pPr lvl="0" marL="342900" indent="-171450">
              <a:buChar char="•"/>
            </a:pPr>
            <a:r>
              <a:rPr lang="zh-CN" sz="1900" dirty="0"/>
              <a:t>总结：本项目已完成知识管理、异步处理、RAG问答与前后端联动的主要实现，具备较好的工程展示价值</a:t>
            </a:r>
          </a:p>
        </p:txBody>
      </p:sp>
      <p:sp>
        <p:nvSpPr>
          <p:cNvPr id="10" name="HighlightTitle"/>
          <p:cNvSpPr/>
          <p:nvPr/>
        </p:nvSpPr>
        <p:spPr>
          <a:xfrm>
            <a:off x="8560000" y="1260000"/>
            <a:ext cx="2500000" cy="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800" dirty="0"/>
              <a:t>结尾表述</a:t>
            </a:r>
          </a:p>
        </p:txBody>
      </p:sp>
      <p:sp>
        <p:nvSpPr>
          <p:cNvPr id="11" name="HighlightBody"/>
          <p:cNvSpPr/>
          <p:nvPr/>
        </p:nvSpPr>
        <p:spPr>
          <a:xfrm>
            <a:off x="8560000" y="1750000"/>
            <a:ext cx="2400000" cy="250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600" dirty="0"/>
              <a:t>课题已完成核心目标，后续重点是细节打磨、测试评估与论文完善。</a:t>
            </a:r>
          </a:p>
        </p:txBody>
      </p:sp>
      <p:sp>
        <p:nvSpPr>
          <p:cNvPr id="12" name="FooterText"/>
          <p:cNvSpPr/>
          <p:nvPr/>
        </p:nvSpPr>
        <p:spPr>
          <a:xfrm>
            <a:off x="457200" y="6290000"/>
            <a:ext cx="3200000" cy="180000"/>
          </a:xfrm>
        </p:spPr>
        <p:txBody>
          <a:bodyPr wrap="square" lIns="91440" tIns="45720" rIns="91440" bIns="45720"/>
          <a:lstStyle/>
          <a:p>
            <a:pPr lvl="0" marL="342900" indent="-171450"/>
            <a:r>
              <a:rPr lang="zh-CN" sz="1200" dirty="0"/>
              <a:t>AI美业知识台 | 毕业答辩汇报 | 第 8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uty Defense Theme">
  <a:themeElements>
    <a:clrScheme name="Beauty">
      <a:dk1>
        <a:srgbClr val="102A28"/>
      </a:dk1>
      <a:lt1>
        <a:srgbClr val="FFFFFF"/>
      </a:lt1>
      <a:dk2>
        <a:srgbClr val="1F3B4D"/>
      </a:dk2>
      <a:lt2>
        <a:srgbClr val="F8F3EA"/>
      </a:lt2>
      <a:accent1>
        <a:srgbClr val="0F766E"/>
      </a:accent1>
      <a:accent2>
        <a:srgbClr val="2F80ED"/>
      </a:accent2>
      <a:accent3>
        <a:srgbClr val="F2994A"/>
      </a:accent3>
      <a:accent4>
        <a:srgbClr val="27AE60"/>
      </a:accent4>
      <a:accent5>
        <a:srgbClr val="5B8C85"/>
      </a:accent5>
      <a:accent6>
        <a:srgbClr val="EB5757"/>
      </a:accent6>
      <a:hlink>
        <a:srgbClr val="0563C1"/>
      </a:hlink>
      <a:folHlink>
        <a:srgbClr val="954F72"/>
      </a:folHlink>
    </a:clrScheme>
    <a:fontScheme name="BeautyFonts">
      <a:majorFont>
        <a:latin typeface="Aptos Display"/>
        <a:ea typeface="微软雅黑"/>
        <a:cs typeface=""/>
      </a:majorFont>
      <a:minorFont>
        <a:latin typeface="Aptos"/>
        <a:ea typeface="微软雅黑"/>
        <a:cs typeface=""/>
      </a:minorFont>
    </a:fontScheme>
    <a:fmtScheme name="Beauty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beauty-defense-refined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AI美业知识台 毕业答辩PPT 精修版</dc:title>
  <dc:creator>Codex</dc:creator>
  <cp:lastModifiedBy>Codex</cp:lastModifiedBy>
  <dcterms:created xsi:type="dcterms:W3CDTF">2026-03-18T22:46:49.873409+08:00</dcterms:created>
  <dcterms:modified xsi:type="dcterms:W3CDTF">2026-03-18T22:46:49.873409+08:00</dcterms:modified>
</cp:coreProperties>
</file>